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Loan_Approved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5FA8D3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Rejected (No)</c:v>
                </c:pt>
                <c:pt idx="1">
                  <c:v>Approved (Yes)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0.702</c:v>
                </c:pt>
                <c:pt idx="1">
                  <c:v>0.298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732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732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7324A"/>
                </a:solidFill>
                <a:latin typeface="Arial"/>
              </a:rPr>
              <a:t>Precision / Recall / Accuracy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732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Reg.</c:v>
                  </c:pt>
                  <c:pt idx="1">
                    <c:v>KNN (Tuned k=13)</c:v>
                  </c:pt>
                  <c:pt idx="2">
                    <c:v>Naive Bayes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78.33</c:v>
                </c:pt>
                <c:pt idx="1">
                  <c:v>73.17</c:v>
                </c:pt>
                <c:pt idx="2">
                  <c:v>80.36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5FA8D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732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Reg.</c:v>
                  </c:pt>
                  <c:pt idx="1">
                    <c:v>KNN (Tuned k=13)</c:v>
                  </c:pt>
                  <c:pt idx="2">
                    <c:v>Naive Bayes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77.05</c:v>
                </c:pt>
                <c:pt idx="1">
                  <c:v>49.18</c:v>
                </c:pt>
                <c:pt idx="2">
                  <c:v>73.77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E8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732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Reg.</c:v>
                  </c:pt>
                  <c:pt idx="1">
                    <c:v>KNN (Tuned k=13)</c:v>
                  </c:pt>
                  <c:pt idx="2">
                    <c:v>Naive Bayes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86.5</c:v>
                </c:pt>
                <c:pt idx="1">
                  <c:v>79</c:v>
                </c:pt>
                <c:pt idx="2">
                  <c:v>86.5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2732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732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9525" cap="flat">
              <a:solidFill>
                <a:srgbClr val="E4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2732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2926080" cy="29260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SECURETRUST BANK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CreditWise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Approval System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machine learning pipeline for fast, consistent, and financially-aligned loan decisioning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663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257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RECORDS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4663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5257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4663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86.5%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5257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ACCURACY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Definition &amp; End-to-End Approach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SecureTrust Bank's manual loan review was slow, subjective, and inconsistent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764792"/>
            <a:ext cx="731520" cy="7315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647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Loss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0116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applicants mistakenly approved, driving up loan defaults.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3182112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063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4290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Creditworthy applicants wrongfully rejected, causing customer churn.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4348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ML system that automatically analyses applicant data and predicts Approve / Reject decisions before final human sign-off.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1508760"/>
            <a:ext cx="5532120" cy="4617720"/>
          </a:xfrm>
          <a:prstGeom prst="roundRect">
            <a:avLst>
              <a:gd name="adj" fmla="val 1584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OPTIMIZATION HIERARCHY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286000"/>
            <a:ext cx="502920" cy="502920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22677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Goal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26060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False Positives — prevent approving high-risk borrowers and costly defaults.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429000"/>
            <a:ext cx="502920" cy="502920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4107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Goal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7490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False Negatives — retain revenue by approving creditworthy applicants.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4572000"/>
            <a:ext cx="493776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47548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data cleaning → imputation → encoding → scaling → model selection → Streamlit deployment.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CreditWise Loan Approval System  |  SecureTrust Bank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Exploratory Analysis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records across 20 attributes — cleaned, imputed, and profiled before modeling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63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Identifier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80136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Applicant_ID removed — carries no predictive signal.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514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Missing Values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85292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missing rows per column; mean for numeric, mode for categorical (SimpleImputer).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566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Destructive Outliers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0448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 across income, credit score, DTI, savings, age, and loan amount confirmed clean distributions.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70916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13892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Credit_Score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positive predictor of approval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DTI_Ratio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negative predictor — high debt drives rejection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 BALANCE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309360" y="182880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6309360" y="493776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70.2% of historical decisions were rejections — a meaningful class imbalance that shaped model evaluation choices beyond raw accuracy.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CreditWise Loan Approval System  |  SecureTrust Bank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&amp; Model Setup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raw attributes into model-ready inputs, then testing three classification paradigms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731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659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/ ordinal attributes converted to 0/1 (e.g. target Loan_Approved).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697480"/>
            <a:ext cx="731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1089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categories expanded: Property_Area, Loan_Purpose, Employer_Category.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840480"/>
            <a:ext cx="731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931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2519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Zero-mean, unit-variance scaling — prevents magnitude bias for KNN &amp; Logistic Regression.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CLASSIFICATION PARADIGMS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1874520"/>
            <a:ext cx="5532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2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207568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19476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27685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log-odds baseline classifier.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2971800"/>
            <a:ext cx="5532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2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31729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5508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30449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337413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Non-parametric, distance-based instance classifier. Tuned via GridSearchCV (best k = 13).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72200" y="4069080"/>
            <a:ext cx="5532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2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42702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55080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086600" y="41422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Naive Bayes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086600" y="447141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classifier assuming feature independence.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525780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an 80/20 stratified split — 200 test samples (139 actual rejections, 61 actual approvals).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CreditWise Loan Approval System  |  SecureTrust Bank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Comparison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KNN traded recall for precision — Naive Bayes held the strongest balance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0" y="1463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PROFILE (FP / FN)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828800"/>
          <a:ext cx="39319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(Default)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(Tuned k=13)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772400" y="42062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and tuned KNN tie for the fewest false positives (11) — but Naive Bayes keeps false negatives far lower (16 vs. 31).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CreditWise Loan Approval System  |  SecureTrust Bank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Selection &amp; Business Impact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Naive Bayes selected as the production model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141B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80.36%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26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of all models — fewest high-risk borrowers slip through (FP = 11).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141B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1783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73.77%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926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45 of 61 true approvals (FN = 16) — protects origination revenue.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141B4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66760" y="1783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ERRORS (FP+FN)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926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combined error count alongside a top-tier 86.5% accuracy.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112471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645152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is deceiving in imbalanced domains. Evaluating precision-recall trade-offs and confusion-matrix cell costs — not just overall accuracy — is essential for financial risk decisioning. Naive Bayes matched Logistic Regression's 86.5% accuracy while delivering a materially better risk-adjusted error profile.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CreditWise Loan Approval System  |  SecureTrust Bank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Deployment via Streamlit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Operationalizing the model as a live decision tool for loan officers (app.py)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5819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Serialization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9202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weights (naive_bayes_model.pkl) and scaler.pkl packaged for reuse.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6334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Preprocessing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9718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user inputs automatically pass through the same StandardScaler pipeline.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6850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Inputs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0233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and fields for Credit_Score, DTI_Ratio, Income, Savings, Loan_Amount &amp; more.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7365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Decisions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0749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APPROVED / REJECTED badges replace manual paperwork review.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66928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5760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0167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latency cut from hours/days to seconds — with objective, standardized risk assessment across every branch.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1463040"/>
            <a:ext cx="5120640" cy="4846320"/>
          </a:xfrm>
          <a:prstGeom prst="roundRect">
            <a:avLst>
              <a:gd name="adj" fmla="val 1132"/>
            </a:avLst>
          </a:prstGeom>
          <a:solidFill>
            <a:srgbClr val="141B47"/>
          </a:solidFill>
          <a:ln/>
        </p:spPr>
      </p:sp>
      <p:sp>
        <p:nvSpPr>
          <p:cNvPr id="24" name="Shape 22"/>
          <p:cNvSpPr/>
          <p:nvPr/>
        </p:nvSpPr>
        <p:spPr>
          <a:xfrm>
            <a:off x="6309360" y="1463040"/>
            <a:ext cx="5120640" cy="365760"/>
          </a:xfrm>
          <a:prstGeom prst="rect">
            <a:avLst/>
          </a:prstGeom>
          <a:solidFill>
            <a:srgbClr val="0F1433"/>
          </a:solidFill>
          <a:ln/>
        </p:spPr>
      </p:sp>
      <p:sp>
        <p:nvSpPr>
          <p:cNvPr id="25" name="Shape 23"/>
          <p:cNvSpPr/>
          <p:nvPr/>
        </p:nvSpPr>
        <p:spPr>
          <a:xfrm>
            <a:off x="6492240" y="1600200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6" name="Shape 24"/>
          <p:cNvSpPr/>
          <p:nvPr/>
        </p:nvSpPr>
        <p:spPr>
          <a:xfrm>
            <a:off x="6748272" y="1600200"/>
            <a:ext cx="109728" cy="109728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27" name="Shape 25"/>
          <p:cNvSpPr/>
          <p:nvPr/>
        </p:nvSpPr>
        <p:spPr>
          <a:xfrm>
            <a:off x="7004304" y="1600200"/>
            <a:ext cx="109728" cy="10972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29400" y="19659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CreditWise Loan Approval System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629400" y="2377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applicant details to predict loan approval status.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629400" y="27889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Income (₹)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629400" y="3017520"/>
            <a:ext cx="2057400" cy="365760"/>
          </a:xfrm>
          <a:prstGeom prst="roundRect">
            <a:avLst>
              <a:gd name="adj" fmla="val 10000"/>
            </a:avLst>
          </a:prstGeom>
          <a:solidFill>
            <a:srgbClr val="232B5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720840" y="3017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100000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869680" y="27889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 (₹)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869680" y="3017520"/>
            <a:ext cx="2057400" cy="365760"/>
          </a:xfrm>
          <a:prstGeom prst="roundRect">
            <a:avLst>
              <a:gd name="adj" fmla="val 10000"/>
            </a:avLst>
          </a:prstGeom>
          <a:solidFill>
            <a:srgbClr val="232B5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961120" y="3017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500000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629400" y="3566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629400" y="3794760"/>
            <a:ext cx="2057400" cy="365760"/>
          </a:xfrm>
          <a:prstGeom prst="roundRect">
            <a:avLst>
              <a:gd name="adj" fmla="val 10000"/>
            </a:avLst>
          </a:prstGeom>
          <a:solidFill>
            <a:srgbClr val="232B5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720840" y="37947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869680" y="3566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Ratio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869680" y="3794760"/>
            <a:ext cx="2057400" cy="365760"/>
          </a:xfrm>
          <a:prstGeom prst="roundRect">
            <a:avLst>
              <a:gd name="adj" fmla="val 10000"/>
            </a:avLst>
          </a:prstGeom>
          <a:solidFill>
            <a:srgbClr val="232B5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961120" y="37947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629400" y="4480560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E74C3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629400" y="4480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Application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629400" y="5074920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E8A5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629400" y="5074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 Status: APPROVED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CreditWise Loan Approval System  |  SecureTrust Bank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2026-09-24T00:33:18Z</dcterms:created>
  <dcterms:modified xsi:type="dcterms:W3CDTF">2026-09-24T00:33:18Z</dcterms:modified>
</cp:coreProperties>
</file>